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40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5379B-DD61-4006-AA76-20D5697E5BE6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ED6F4-B20D-49B9-A5EE-201A20792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6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9ADFD-9909-4802-BFB1-0239665C0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92B83A-11E3-4B0A-B39A-0924FFF702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60F81B-B13B-40F8-9609-565E8597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9737-4F50-4EC2-A355-579D5438EF68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4ED7D-0F93-4514-8C6E-26094A02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B513D-E4D0-4267-AE4C-FDE8A162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32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5BA3F-3000-4BE4-9924-7A228F32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911EDF-42CC-4498-92B4-E8D48DEC0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D287B-4CEA-46CD-B6C9-BDAF351E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C1EB8-D9C6-4B25-8191-98EB236EFF3B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ABE0B-ACF0-4844-96AA-4CB59289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9468BE-5084-48C6-BD1A-348E0010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10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0434D-7917-4D34-9588-4960562B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6A41A8-5B87-4FEB-8DB7-CF3F2B80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DE6671-F362-4674-8255-BBB97A1F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8BB26-B6B3-41FB-8295-609F5A2F9CA9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01890-2F8C-479D-B41C-CBBB85DC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F384C-D445-4E98-A7BB-EA99D834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4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F563D-95A0-4A50-9314-B424E7EB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EF33C-2AF3-4ECF-82BC-278DB1954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376936-CB57-40A1-8373-3D9A1CA1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88E89B-BED4-46D5-A97F-F1ABC263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6788D-254F-4E58-8F95-7842D7ED37F4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AA77C7-4E62-44F4-B4BB-B838AC10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4C34B-C0E4-4534-8431-A95BDF0E1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FB814-8170-4197-9ABA-A85E0BE0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FB6F55-0680-46B2-B0BF-A50D7803F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345FD2-72A2-4192-9E13-1AD55487E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A3F79D-AB6B-4CF6-99EB-BB7053DC7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8F0C88-B7F7-4253-A5C5-4ADC7CB45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31084E-FC5D-471B-AF65-E17525B3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9FB20-D6AF-4077-BCD8-5A5D50190E43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826095-7B12-4CE8-BBC4-F06DA162A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51B6DE-9550-4DFE-807E-0845937B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369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1AA7D-DC14-421A-8449-9CA4F28C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7F13E92-F2D4-4A07-9F59-5641C133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CB4A-2B58-4CD1-99BD-173E36C05374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BA8085-F9E9-4C1E-9814-AF9FE58E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A1FB31-944A-4C2F-BCB3-B07143CC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05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624B094-AD12-41EF-8378-CFEAE217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AFBF2-1DF0-43AF-8AF8-CFFBDA8A717A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3C42DB5-6749-4FCC-A8A2-2771DDB3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42420F-8F87-4D32-B2A0-AAB48933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61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1758B-C3BF-4A54-B3D9-029615B58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75BF46-D528-4BAE-90CA-FB119D9BA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F4EF70-EA40-49C9-BA66-793E824D1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0216B4-88F4-4675-8A37-6BA521453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B7C-2612-4A46-AC91-E8DD6D4F0664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9F0D78-D3CF-495C-91BE-C6454CD1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1DDBA-465C-4AE0-9DE5-D8323321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59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588247-6819-47CD-BC28-9987408C8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CCB8EB-C460-48C7-BFC7-5840963F4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C5B377-72F4-43CD-A585-084897EEB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F0023-DE5A-4BD9-8CE3-F4AAD574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15630-1154-4114-BF04-4C883B71EC1F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012D0C-FCD8-4D9F-AD60-3628AF76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D84E10-17AB-4056-BFDF-7353FC35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15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86A89-8579-4613-9578-23F75CBF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82B9A9-BFDE-436C-A32A-611C6CF05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1FD8D-E524-454E-971D-5D9AC0512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63AE3-771C-44D7-9F57-A570EBA8B8A8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D8BEC-B142-4B2F-A042-4B7A4554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E6CD7-D5E0-46B1-87DD-9F574C52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18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1120F9-8C32-45E4-8812-ECA616B8D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FD75A3-43F1-4B54-B1CE-D0CB732C6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DD161F-576F-408A-A5DE-590CF041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969EC-EEB7-489F-ABFB-0D0E917F4E78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4A39D1-33B3-4027-AD4E-34E51A5AF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247059-7359-4EC4-9629-E3C773A5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17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51C007-2652-4BEE-97F9-7E29D57B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495F6C-E4D6-4A82-B9B9-96923CD38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C7B37-3E80-4911-86A4-2F3ADA503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5B4D9-B506-49AE-A575-5A3111DE234E}" type="datetime1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73FE6C-5BAD-419D-A4D2-B32FE03AE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09511-E334-45BA-855F-3EEB73AA4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1C51D-F375-438D-8888-48A6AD09AD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24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8662" y="-12761"/>
            <a:ext cx="12210662" cy="186022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55781" y="-301102"/>
            <a:ext cx="11436219" cy="216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第四讲 海水运动方程（</a:t>
            </a:r>
            <a:r>
              <a:rPr kumimoji="0"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0" lang="en-US" altLang="zh-CN" sz="3600" b="1" dirty="0">
              <a:solidFill>
                <a:schemeClr val="bg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第 </a:t>
            </a:r>
            <a:r>
              <a:rPr kumimoji="0" lang="en-US" altLang="zh-CN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 </a:t>
            </a:r>
            <a:r>
              <a:rPr kumimoji="0" lang="zh-CN" altLang="en-US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章 海水基本运动方程 （</a:t>
            </a:r>
            <a:r>
              <a:rPr kumimoji="0" lang="en-US" altLang="zh-CN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5.1, 5.10 ~ 5.11</a:t>
            </a:r>
            <a:r>
              <a:rPr kumimoji="0" lang="zh-CN" altLang="en-US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4400" b="1" dirty="0">
              <a:solidFill>
                <a:schemeClr val="bg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632838" y="2401869"/>
            <a:ext cx="578802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海洋中的力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endParaRPr lang="zh-CN" altLang="en-US" b="1" dirty="0">
              <a:highlight>
                <a:srgbClr val="FFFF00"/>
              </a:highlight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全微分的物理意义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endParaRPr lang="zh-CN" altLang="en-US" b="1" dirty="0">
              <a:highlight>
                <a:srgbClr val="FFFF00"/>
              </a:highlight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b="1" dirty="0">
                <a:ea typeface="黑体" panose="02010609060101010101" pitchFamily="49" charset="-122"/>
                <a:cs typeface="Times New Roman" panose="02020603050405020304" pitchFamily="18" charset="0"/>
              </a:rPr>
              <a:t>动量方程的导出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1" y="6034745"/>
            <a:ext cx="1025434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Introduction to physical oceanography  (R. H. Stewart)</a:t>
            </a:r>
            <a:r>
              <a:rPr lang="zh-CN" alt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2008</a:t>
            </a:r>
            <a:r>
              <a:rPr lang="en-US" altLang="zh-CN" sz="2400" b="1" i="1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.  Chapter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5868957"/>
            <a:ext cx="6232849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DFF8D-2241-4E53-92B4-473AFDC42BBD}" type="slidenum">
              <a:rPr lang="zh-CN" altLang="en-US" smtClean="0"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>
            <a:extLst>
              <a:ext uri="{FF2B5EF4-FFF2-40B4-BE49-F238E27FC236}">
                <a16:creationId xmlns:a16="http://schemas.microsoft.com/office/drawing/2014/main" id="{6CAF5B05-F373-4A63-8E60-1BBC3212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518" y="5145088"/>
            <a:ext cx="842486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4B6451AB-2D83-4F82-A14C-739930C17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181" y="6108700"/>
            <a:ext cx="83248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6DB7B5B7-A899-4F7A-B393-63165CDC8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518" y="2730500"/>
            <a:ext cx="8932863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6DBB5490-9FAC-436F-B1AF-EF07F057B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881" y="3184525"/>
            <a:ext cx="595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 Black" panose="020B0A04020102020204" pitchFamily="34" charset="0"/>
              </a:rPr>
              <a:t>23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22598D6-F212-406F-89FC-AF8C9DB1D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380" y="5114925"/>
            <a:ext cx="59372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 Black" panose="020B0A04020102020204" pitchFamily="34" charset="0"/>
              </a:rPr>
              <a:t>43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0E7400F-65B9-409D-8D1E-5C0847C78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818" y="605155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 Black" panose="020B0A04020102020204" pitchFamily="34" charset="0"/>
              </a:rPr>
              <a:t>122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1E4A41-54BA-48AA-AC87-2A7D86CD363A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B04CFCC-4C04-41C9-93FC-45A64062D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Science </a:t>
            </a: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公布的</a:t>
            </a: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125 </a:t>
            </a: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个科学前沿问题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0B0CF635-3BC2-451F-96BA-2AD2EA515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269" y="5288757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AC9E4C-9FE2-4476-AC56-DFB2855D068B}"/>
              </a:ext>
            </a:extLst>
          </p:cNvPr>
          <p:cNvSpPr txBox="1"/>
          <p:nvPr/>
        </p:nvSpPr>
        <p:spPr>
          <a:xfrm>
            <a:off x="1583881" y="1028138"/>
            <a:ext cx="8932863" cy="128625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23.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温室效应会使得地球温度达到多高？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43.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能否发展关于湍流动力学和颗粒材料运动学的综合理论？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122.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数学家将会最终给出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Navier-Stokes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方程的解吗？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BB52CBA-13F7-4E46-63DB-870B0C99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4FC81-3767-429A-B67D-29FC51DA67C0}"/>
              </a:ext>
            </a:extLst>
          </p:cNvPr>
          <p:cNvSpPr txBox="1">
            <a:spLocks/>
          </p:cNvSpPr>
          <p:nvPr/>
        </p:nvSpPr>
        <p:spPr>
          <a:xfrm>
            <a:off x="491064" y="1552846"/>
            <a:ext cx="6237658" cy="22616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buFont typeface="Monotype Sorts" pitchFamily="2" charset="2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written down in the 1840s, the equations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the keys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understanding both smooth and turbulent flow. To harness them, though, theorists must find out exactly when they work and under what conditions they break down.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5E6F8E-CE92-404D-82CA-F58A8EA8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50" y="272848"/>
            <a:ext cx="11211176" cy="184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cs typeface="Times New Roman" panose="02020603050405020304" pitchFamily="18" charset="0"/>
              </a:rPr>
              <a:t>Will mathematicians unleash the power of the Navier-Stokes equations?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BDBD22-A50D-BE5A-AEB6-BEF81DB3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149" y="3919662"/>
            <a:ext cx="4007077" cy="21771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3EE7F2-CD66-1E26-87C0-F0B0CD212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337" y="1746227"/>
            <a:ext cx="4000889" cy="21151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B15BE3B-DD2F-92E8-1DCC-70B38599051E}"/>
              </a:ext>
            </a:extLst>
          </p:cNvPr>
          <p:cNvSpPr txBox="1"/>
          <p:nvPr/>
        </p:nvSpPr>
        <p:spPr>
          <a:xfrm>
            <a:off x="491064" y="4174345"/>
            <a:ext cx="6874585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蕴含着理解层流和湍流的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关键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运用这些方程组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理论学家必须准确弄清楚</a:t>
            </a:r>
            <a:b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它们在什么条件下适用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以及在什么条件下会失效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DF60C1-D75E-A428-338F-0B57D9A6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CA2E1C-810D-E04A-B8E5-221EF8156D70}"/>
              </a:ext>
            </a:extLst>
          </p:cNvPr>
          <p:cNvSpPr txBox="1"/>
          <p:nvPr/>
        </p:nvSpPr>
        <p:spPr>
          <a:xfrm>
            <a:off x="491064" y="754281"/>
            <a:ext cx="10677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数学家们能否真正释放纳维 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- 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斯托克斯方程的强大威力？</a:t>
            </a:r>
          </a:p>
        </p:txBody>
      </p:sp>
    </p:spTree>
    <p:extLst>
      <p:ext uri="{BB962C8B-B14F-4D97-AF65-F5344CB8AC3E}">
        <p14:creationId xmlns:p14="http://schemas.microsoft.com/office/powerpoint/2010/main" val="3965014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CE9B9A-CC9D-401B-84EB-0AA16209588C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3D99BD-50ED-45CC-BA0C-A6C28F4E9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海洋中的力 </a:t>
            </a: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(5.1)</a:t>
            </a:r>
            <a:endParaRPr lang="zh-CN" altLang="en-US" sz="3600" b="1" dirty="0">
              <a:solidFill>
                <a:schemeClr val="bg1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B3FACB7F-BB2E-4498-B25A-67D74B7030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2953322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AB2CEB44-3091-492A-92F0-4C175E7CB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480160"/>
              </p:ext>
            </p:extLst>
          </p:nvPr>
        </p:nvGraphicFramePr>
        <p:xfrm>
          <a:off x="1865831" y="1524022"/>
          <a:ext cx="8128000" cy="4553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3958965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58165066"/>
                    </a:ext>
                  </a:extLst>
                </a:gridCol>
              </a:tblGrid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重力</a:t>
                      </a:r>
                      <a:r>
                        <a:rPr lang="en-US" altLang="zh-CN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(gravity)</a:t>
                      </a:r>
                      <a:endParaRPr lang="en-US" altLang="zh-C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引潮力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264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浮力</a:t>
                      </a: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6756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水平压强梯度</a:t>
                      </a:r>
                    </a:p>
                  </a:txBody>
                  <a:tcPr>
                    <a:lnL w="381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44053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摩擦力</a:t>
                      </a: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(friction)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风应力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9955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底部切应力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37541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惯性力</a:t>
                      </a:r>
                      <a:r>
                        <a:rPr lang="en-US" altLang="zh-C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(inertial force)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表观力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7713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伪力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215708"/>
                  </a:ext>
                </a:extLst>
              </a:tr>
            </a:tbl>
          </a:graphicData>
        </a:graphic>
      </p:graphicFrame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8A0690-F9D9-437A-D77A-CB2B1CC6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244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664517F0-E89B-46DD-879B-21E0DE25B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437041"/>
              </p:ext>
            </p:extLst>
          </p:nvPr>
        </p:nvGraphicFramePr>
        <p:xfrm>
          <a:off x="4145280" y="2249424"/>
          <a:ext cx="2209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393529" progId="Equation.DSMT4">
                  <p:embed/>
                </p:oleObj>
              </mc:Choice>
              <mc:Fallback>
                <p:oleObj name="Equation" r:id="rId2" imgW="837836" imgH="393529" progId="Equation.DSMT4">
                  <p:embed/>
                  <p:pic>
                    <p:nvPicPr>
                      <p:cNvPr id="8196" name="Object 6">
                        <a:extLst>
                          <a:ext uri="{FF2B5EF4-FFF2-40B4-BE49-F238E27FC236}">
                            <a16:creationId xmlns:a16="http://schemas.microsoft.com/office/drawing/2014/main" id="{B2F74D4E-49D0-479A-92F6-036FFD12FD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280" y="2249424"/>
                        <a:ext cx="2209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463A0EDA-51B4-475E-8B5C-F6CBB195A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584861"/>
              </p:ext>
            </p:extLst>
          </p:nvPr>
        </p:nvGraphicFramePr>
        <p:xfrm>
          <a:off x="3810318" y="3882962"/>
          <a:ext cx="29432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000" imgH="419100" progId="Equation.DSMT4">
                  <p:embed/>
                </p:oleObj>
              </mc:Choice>
              <mc:Fallback>
                <p:oleObj name="Equation" r:id="rId4" imgW="1524000" imgH="419100" progId="Equation.DSMT4">
                  <p:embed/>
                  <p:pic>
                    <p:nvPicPr>
                      <p:cNvPr id="8197" name="Object 12">
                        <a:extLst>
                          <a:ext uri="{FF2B5EF4-FFF2-40B4-BE49-F238E27FC236}">
                            <a16:creationId xmlns:a16="http://schemas.microsoft.com/office/drawing/2014/main" id="{DE1DD204-4EBF-4554-9AB3-369386400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318" y="3882962"/>
                        <a:ext cx="29432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3A8B041B-64C5-4DAF-9D4B-8D79876CA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" y="1663637"/>
            <a:ext cx="9144000" cy="3690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2FCD9FD-E12F-4A4B-86E0-F166EEA5AAA2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D25466C-1FE2-4E5D-9E0A-54388C5E6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全微分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EC72DA-8447-4220-C24E-E8E52580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13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F0AC2A33-8131-4587-8343-D6CEC9454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492" y="554901"/>
            <a:ext cx="7414327" cy="5129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FA42B3A-CCF7-726E-9892-23FBAACB2910}"/>
              </a:ext>
            </a:extLst>
          </p:cNvPr>
          <p:cNvCxnSpPr>
            <a:cxnSpLocks/>
          </p:cNvCxnSpPr>
          <p:nvPr/>
        </p:nvCxnSpPr>
        <p:spPr>
          <a:xfrm>
            <a:off x="3070597" y="4862091"/>
            <a:ext cx="691160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BC99D46-1529-DEC1-3CED-39914519D1E1}"/>
              </a:ext>
            </a:extLst>
          </p:cNvPr>
          <p:cNvCxnSpPr>
            <a:cxnSpLocks/>
          </p:cNvCxnSpPr>
          <p:nvPr/>
        </p:nvCxnSpPr>
        <p:spPr>
          <a:xfrm>
            <a:off x="2856712" y="5121698"/>
            <a:ext cx="71254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F87D51A-6700-9802-213B-3F501F8FF244}"/>
              </a:ext>
            </a:extLst>
          </p:cNvPr>
          <p:cNvCxnSpPr>
            <a:cxnSpLocks/>
          </p:cNvCxnSpPr>
          <p:nvPr/>
        </p:nvCxnSpPr>
        <p:spPr>
          <a:xfrm>
            <a:off x="2856712" y="5356077"/>
            <a:ext cx="222503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4182396-553E-775A-8250-127F7144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3CF87C-4AFD-D677-3A7C-778D33DCC3BC}"/>
              </a:ext>
            </a:extLst>
          </p:cNvPr>
          <p:cNvSpPr txBox="1"/>
          <p:nvPr/>
        </p:nvSpPr>
        <p:spPr>
          <a:xfrm>
            <a:off x="1362667" y="5684416"/>
            <a:ext cx="10327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这是个惊人的结论。从跟随质点运动的坐标系（拉格朗日坐标系）变换到固定在空间中的坐标系（欧拉坐标系），将一个简单的线性全导数</a:t>
            </a:r>
            <a:r>
              <a:rPr lang="zh-CN" altLang="en-US" sz="20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（质点导数）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转化为非线性偏导数。</a:t>
            </a:r>
          </a:p>
        </p:txBody>
      </p:sp>
    </p:spTree>
    <p:extLst>
      <p:ext uri="{BB962C8B-B14F-4D97-AF65-F5344CB8AC3E}">
        <p14:creationId xmlns:p14="http://schemas.microsoft.com/office/powerpoint/2010/main" val="2816384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1748269-4CEE-4261-B2DF-21CEE9B34CB5}"/>
              </a:ext>
            </a:extLst>
          </p:cNvPr>
          <p:cNvSpPr/>
          <p:nvPr/>
        </p:nvSpPr>
        <p:spPr>
          <a:xfrm>
            <a:off x="3246120" y="3282696"/>
            <a:ext cx="6007608" cy="1335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90CCC58-8579-46EE-BCD5-8849D1273B6E}"/>
              </a:ext>
            </a:extLst>
          </p:cNvPr>
          <p:cNvSpPr txBox="1">
            <a:spLocks noChangeArrowheads="1"/>
          </p:cNvSpPr>
          <p:nvPr/>
        </p:nvSpPr>
        <p:spPr>
          <a:xfrm>
            <a:off x="2276633" y="2337816"/>
            <a:ext cx="7627938" cy="26182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  <a:defRPr/>
            </a:pPr>
            <a:r>
              <a:rPr lang="zh-CN" altLang="en-US" sz="3000" b="1" dirty="0"/>
              <a:t>牛顿第二运动定律</a:t>
            </a:r>
            <a:endParaRPr lang="en-US" altLang="zh-CN" sz="3000" b="1" dirty="0"/>
          </a:p>
          <a:p>
            <a:pPr marL="0" indent="0" algn="ctr">
              <a:lnSpc>
                <a:spcPct val="30000"/>
              </a:lnSpc>
              <a:buNone/>
              <a:defRPr/>
            </a:pPr>
            <a:endParaRPr lang="en-US" altLang="zh-CN" sz="9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altLang="zh-CN" sz="96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= m a</a:t>
            </a:r>
            <a:endParaRPr lang="zh-CN" altLang="en-US" sz="96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D55A74-5285-423C-8F6F-3C5AA06818C3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16575A-38ED-47FD-A192-FD5619518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运动方程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4CFCA91-3302-1919-938A-BBE482DFA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73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7D55A74-5285-423C-8F6F-3C5AA06818C3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16575A-38ED-47FD-A192-FD5619518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运动方程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7F19D5-EE5C-4CA8-9BA8-C976A1AEC7CA}"/>
              </a:ext>
            </a:extLst>
          </p:cNvPr>
          <p:cNvSpPr txBox="1">
            <a:spLocks noChangeArrowheads="1"/>
          </p:cNvSpPr>
          <p:nvPr/>
        </p:nvSpPr>
        <p:spPr>
          <a:xfrm>
            <a:off x="1929384" y="1734312"/>
            <a:ext cx="762793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压强梯度力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重力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科氏力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Navier-Stokes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方程、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Euler 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方程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边界条件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静压假定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F1DE24-B607-E121-BA68-CAFD5237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402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0661FE8-00AE-4F58-9E72-01911E4EC8B6}"/>
              </a:ext>
            </a:extLst>
          </p:cNvPr>
          <p:cNvSpPr txBox="1">
            <a:spLocks noChangeArrowheads="1"/>
          </p:cNvSpPr>
          <p:nvPr/>
        </p:nvSpPr>
        <p:spPr>
          <a:xfrm>
            <a:off x="1287625" y="1519808"/>
            <a:ext cx="9618770" cy="1419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由于流场中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压力分布不均匀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而产生的，推动流体质点自高压向低压方向运动的力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795CC21D-CB6B-4A7D-B35A-E86F160F3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r="18518"/>
          <a:stretch>
            <a:fillRect/>
          </a:stretch>
        </p:blipFill>
        <p:spPr bwMode="auto">
          <a:xfrm>
            <a:off x="447743" y="3133274"/>
            <a:ext cx="5757119" cy="3140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9">
            <a:extLst>
              <a:ext uri="{FF2B5EF4-FFF2-40B4-BE49-F238E27FC236}">
                <a16:creationId xmlns:a16="http://schemas.microsoft.com/office/drawing/2014/main" id="{213DCE86-0AC1-414E-8EE7-0FCE36D41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8788" y="3592289"/>
            <a:ext cx="345210" cy="46166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P</a:t>
            </a:r>
          </a:p>
        </p:txBody>
      </p:sp>
      <p:sp>
        <p:nvSpPr>
          <p:cNvPr id="8" name="Text Box 20">
            <a:extLst>
              <a:ext uri="{FF2B5EF4-FFF2-40B4-BE49-F238E27FC236}">
                <a16:creationId xmlns:a16="http://schemas.microsoft.com/office/drawing/2014/main" id="{D4B6CE6F-835A-40C6-BEC2-710C995FC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768" y="3820889"/>
            <a:ext cx="1235529" cy="46166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P+</a:t>
            </a:r>
            <a:r>
              <a:rPr lang="en-US" altLang="zh-CN" sz="1600" dirty="0"/>
              <a:t>△</a:t>
            </a:r>
            <a:r>
              <a:rPr lang="en-US" altLang="zh-CN" sz="2400" dirty="0"/>
              <a:t>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5A1A88-28B0-4300-8F2E-CDAAD3E70B2F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56D12B7-D682-4E33-852C-ECC59C363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压力梯度力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54B331-8BBB-4A6F-9436-9D8B64630EB3}"/>
              </a:ext>
            </a:extLst>
          </p:cNvPr>
          <p:cNvSpPr txBox="1"/>
          <p:nvPr/>
        </p:nvSpPr>
        <p:spPr>
          <a:xfrm>
            <a:off x="7275906" y="3971113"/>
            <a:ext cx="4321207" cy="17125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立方体的流体质点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背景压力场沿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方向增加</a:t>
            </a:r>
            <a:r>
              <a:rPr lang="en-US" altLang="zh-CN" sz="2800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p2&gt;p1</a:t>
            </a:r>
            <a:endParaRPr lang="zh-CN" altLang="en-US" sz="2800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F2AE541-E718-A247-4F6C-E2CC02DA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40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C2A565E-7671-4801-A910-928FBDE70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 t="7010" r="3000" b="1862"/>
          <a:stretch>
            <a:fillRect/>
          </a:stretch>
        </p:blipFill>
        <p:spPr bwMode="auto">
          <a:xfrm>
            <a:off x="1075944" y="1069848"/>
            <a:ext cx="7010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9E93F5DC-6F66-47F1-B21C-BA27B7783BD8}"/>
                  </a:ext>
                </a:extLst>
              </p:cNvPr>
              <p:cNvSpPr txBox="1"/>
              <p:nvPr/>
            </p:nvSpPr>
            <p:spPr bwMode="auto">
              <a:xfrm>
                <a:off x="1524000" y="5260975"/>
                <a:ext cx="4977699" cy="914400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9E93F5DC-6F66-47F1-B21C-BA27B7783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5260975"/>
                <a:ext cx="4977699" cy="914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0000F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9">
            <a:extLst>
              <a:ext uri="{FF2B5EF4-FFF2-40B4-BE49-F238E27FC236}">
                <a16:creationId xmlns:a16="http://schemas.microsoft.com/office/drawing/2014/main" id="{F1D7C96A-2F6C-4408-B545-6A412FE57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033" y="2562880"/>
            <a:ext cx="4193346" cy="984500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FF00FF"/>
            </a:solidFill>
            <a:prstDash val="dashDot"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el-GR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ρ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kumimoji="0"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z</a:t>
            </a: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方向上不变，</a:t>
            </a:r>
            <a:br>
              <a:rPr kumimoji="0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压力梯度力在任何位置都相同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8AD32E-01EC-4D5F-ACB3-781E99597331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6A69B41-5C79-4B32-80B6-EACC3AE85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压力梯度力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C47E87-7A14-8601-84D6-A872FF7A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61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315EC313-673C-4103-B929-50CC44961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" y="3136392"/>
            <a:ext cx="8258997" cy="335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CEF661BC-73CD-4DDD-B528-634304A9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528" y="992985"/>
            <a:ext cx="10811924" cy="2143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科氏力并不是真实的力</a:t>
            </a: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它是为了</a:t>
            </a:r>
            <a:r>
              <a:rPr kumimoji="0" lang="zh-CN" altLang="en-US" sz="2800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考虑地球旋转效应而人为添加的一种表观力</a:t>
            </a: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大多数情况下，</a:t>
            </a:r>
            <a:r>
              <a:rPr kumimoji="0"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anose="02010609060101010101" pitchFamily="49" charset="-122"/>
                <a:cs typeface="Times New Roman" panose="02020603050405020304" pitchFamily="18" charset="0"/>
              </a:rPr>
              <a:t>外力和加速度很大的运动，地球旋转效应可以忽略</a:t>
            </a:r>
            <a:endParaRPr kumimoji="0" lang="zh-CN" altLang="en-US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D371468-D058-48E4-B0E0-7757CFCB7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7063" y="5282184"/>
            <a:ext cx="2057761" cy="84952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ea typeface="黑体" panose="02010609060101010101" pitchFamily="49" charset="-122"/>
                <a:cs typeface="Times New Roman" panose="02020603050405020304" pitchFamily="18" charset="0"/>
              </a:rPr>
              <a:t>在地球上沿南北向运动的质点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8427F1-57A8-4E87-B6E5-9CF7CD617494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557246B-15BC-4533-BF48-A6AB0E72C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科氏力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B58A9F3F-CC07-44EF-ACC3-5DD8EC84737B}"/>
              </a:ext>
            </a:extLst>
          </p:cNvPr>
          <p:cNvSpPr/>
          <p:nvPr/>
        </p:nvSpPr>
        <p:spPr>
          <a:xfrm rot="10800000">
            <a:off x="8641080" y="5706948"/>
            <a:ext cx="356255" cy="2183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FF2AA7-C290-8725-DB1D-C8C6DE9F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79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227709-F051-4063-BDA2-50B7BC7C18EA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97C75-D7B7-4A40-83AD-CA8FD99D8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科氏力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10BE3138-EAF2-4CAE-91C9-E5688E446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782" y="3802190"/>
            <a:ext cx="5364162" cy="284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DBB00A97-D034-40BF-AE73-3D79F7524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71" y="1843806"/>
            <a:ext cx="1396936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傅科摆</a:t>
            </a:r>
          </a:p>
        </p:txBody>
      </p:sp>
      <p:pic>
        <p:nvPicPr>
          <p:cNvPr id="6" name="Picture 6" descr="P1020886">
            <a:extLst>
              <a:ext uri="{FF2B5EF4-FFF2-40B4-BE49-F238E27FC236}">
                <a16:creationId xmlns:a16="http://schemas.microsoft.com/office/drawing/2014/main" id="{EA08D4B6-27B7-40FE-8EED-38CF1F679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182" y="1057339"/>
            <a:ext cx="6481762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15622057-EF9F-4254-9B88-F21B9B15C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71" y="5024205"/>
            <a:ext cx="2709396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无摩擦斜面运动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6184F1-AA5F-9F5F-885D-6B4076AE2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276" y="1224025"/>
            <a:ext cx="1845223" cy="24602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388DCAB-4C35-080E-3DA1-EEBC9AB15BBE}"/>
              </a:ext>
            </a:extLst>
          </p:cNvPr>
          <p:cNvSpPr txBox="1"/>
          <p:nvPr/>
        </p:nvSpPr>
        <p:spPr>
          <a:xfrm>
            <a:off x="9838944" y="3809798"/>
            <a:ext cx="3209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傅科摆在南半球运动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BF0AD-3273-E805-4356-333AB4A7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85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2BA66F-7859-4BA5-9927-A1C35103A71D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0685F2-B25F-458B-A73D-BBDE0946E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科氏力</a:t>
            </a: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0D53C3A7-02ED-46A5-B1EF-C2FE4E0016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602" y="1628775"/>
            <a:ext cx="91440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134568-3199-4CB0-1D1D-5D765A71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23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A189DF-D042-4F9D-ADBC-8D847D9C86C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CD38D6-0A17-43D4-B814-3127DF56B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科氏力</a:t>
            </a:r>
          </a:p>
        </p:txBody>
      </p:sp>
      <p:graphicFrame>
        <p:nvGraphicFramePr>
          <p:cNvPr id="4" name="Object 21">
            <a:extLst>
              <a:ext uri="{FF2B5EF4-FFF2-40B4-BE49-F238E27FC236}">
                <a16:creationId xmlns:a16="http://schemas.microsoft.com/office/drawing/2014/main" id="{6CFF53E3-3698-4E3F-ABCE-3F202CFB6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913745"/>
              </p:ext>
            </p:extLst>
          </p:nvPr>
        </p:nvGraphicFramePr>
        <p:xfrm>
          <a:off x="2566543" y="1759649"/>
          <a:ext cx="3621088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736600" progId="Equation.DSMT4">
                  <p:embed/>
                </p:oleObj>
              </mc:Choice>
              <mc:Fallback>
                <p:oleObj name="Equation" r:id="rId2" imgW="1524000" imgH="736600" progId="Equation.DSMT4">
                  <p:embed/>
                  <p:pic>
                    <p:nvPicPr>
                      <p:cNvPr id="18436" name="Object 21">
                        <a:extLst>
                          <a:ext uri="{FF2B5EF4-FFF2-40B4-BE49-F238E27FC236}">
                            <a16:creationId xmlns:a16="http://schemas.microsoft.com/office/drawing/2014/main" id="{571EDCC2-9B4D-43BD-AA80-78A8D2A8BC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543" y="1759649"/>
                        <a:ext cx="3621088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BB9DF2F1-EF98-43D6-A129-AE84F30C8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929613"/>
              </p:ext>
            </p:extLst>
          </p:nvPr>
        </p:nvGraphicFramePr>
        <p:xfrm>
          <a:off x="6967093" y="2350199"/>
          <a:ext cx="1828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203112" progId="Equation.DSMT4">
                  <p:embed/>
                </p:oleObj>
              </mc:Choice>
              <mc:Fallback>
                <p:oleObj name="Equation" r:id="rId4" imgW="812447" imgH="203112" progId="Equation.DSMT4">
                  <p:embed/>
                  <p:pic>
                    <p:nvPicPr>
                      <p:cNvPr id="18437" name="Object 24">
                        <a:extLst>
                          <a:ext uri="{FF2B5EF4-FFF2-40B4-BE49-F238E27FC236}">
                            <a16:creationId xmlns:a16="http://schemas.microsoft.com/office/drawing/2014/main" id="{0FEB2656-39CB-44FD-9CD2-D51FF75C56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7093" y="2350199"/>
                        <a:ext cx="1828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27">
            <a:extLst>
              <a:ext uri="{FF2B5EF4-FFF2-40B4-BE49-F238E27FC236}">
                <a16:creationId xmlns:a16="http://schemas.microsoft.com/office/drawing/2014/main" id="{BD0DF613-799C-4B4B-AE28-C9266455EC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3493" y="1740599"/>
            <a:ext cx="609600" cy="914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8E0C4594-72C2-450D-B90D-988641D07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168" y="4658424"/>
            <a:ext cx="9144000" cy="109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C2A3F8A-9462-88B9-3CB2-78BEA08F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721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科氏力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58F6AD-D2F2-405E-B7DB-D1F6D419B6FA}"/>
              </a:ext>
            </a:extLst>
          </p:cNvPr>
          <p:cNvSpPr txBox="1">
            <a:spLocks noChangeArrowheads="1"/>
          </p:cNvSpPr>
          <p:nvPr/>
        </p:nvSpPr>
        <p:spPr>
          <a:xfrm>
            <a:off x="1376172" y="1917192"/>
            <a:ext cx="9592056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科氏力与质点相对于地球运动的速度成正比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，如果质点相对地球静止，科氏力为零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科氏力随着纬度的增加而增大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，在两极达到最大值，在赤道为零</a:t>
            </a:r>
          </a:p>
          <a:p>
            <a:pPr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科氏力总是与质点运动方向成直角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，在北半球位于运动方向的右侧，南半球位于左侧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94AE086-15DC-5720-CB75-AEA8FA9E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381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重力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186CD340-0DF5-4FDE-9544-0881772F2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4" y="1658112"/>
            <a:ext cx="463867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0B7587CB-9B99-4A66-92CA-948F70D6E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664" y="4248912"/>
            <a:ext cx="2895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8">
            <a:extLst>
              <a:ext uri="{FF2B5EF4-FFF2-40B4-BE49-F238E27FC236}">
                <a16:creationId xmlns:a16="http://schemas.microsoft.com/office/drawing/2014/main" id="{10502FEE-EF8D-4C0B-8C49-72E0C4608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68" y="2448552"/>
            <a:ext cx="4949952" cy="304827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重力加速度在赤道地区为</a:t>
            </a:r>
            <a:r>
              <a:rPr kumimoji="0"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9.78m/s</a:t>
            </a:r>
            <a:r>
              <a:rPr kumimoji="0" lang="en-US" altLang="zh-CN" sz="2800" b="1" baseline="30000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，在极地为</a:t>
            </a:r>
            <a:r>
              <a:rPr kumimoji="0"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9.83m/s</a:t>
            </a:r>
            <a:r>
              <a:rPr kumimoji="0" lang="en-US" altLang="zh-CN" sz="2800" b="1" baseline="30000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，随纬度增加而增加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kumimoji="0"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这主要是由于向心加速度的变化和地球半径的变化</a:t>
            </a:r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68E0633-AEB7-4453-8164-447A1E561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864" y="4934712"/>
            <a:ext cx="14478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6D3C23-CD3F-6780-9EEE-0B866DDC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712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重力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8F90F-1A4C-42A1-AAD4-95032233873C}"/>
              </a:ext>
            </a:extLst>
          </p:cNvPr>
          <p:cNvSpPr txBox="1">
            <a:spLocks noChangeArrowheads="1"/>
          </p:cNvSpPr>
          <p:nvPr/>
        </p:nvSpPr>
        <p:spPr>
          <a:xfrm>
            <a:off x="7248144" y="2296668"/>
            <a:ext cx="4090416" cy="2950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itchFamily="2" charset="2"/>
              <a:buChar char="l"/>
              <a:defRPr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与重力矢相垂直的面称为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等势面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，质点沿等势面运动时重力势能不变</a:t>
            </a:r>
          </a:p>
          <a:p>
            <a:pPr>
              <a:lnSpc>
                <a:spcPct val="130000"/>
              </a:lnSpc>
              <a:buFont typeface="Wingdings" pitchFamily="2" charset="2"/>
              <a:buChar char="l"/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平均状态下的海平面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就可以近似看作是等势面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E34E7-A6AB-4696-8A29-04C129EEB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83"/>
          <a:stretch>
            <a:fillRect/>
          </a:stretch>
        </p:blipFill>
        <p:spPr bwMode="auto">
          <a:xfrm>
            <a:off x="1060704" y="1389888"/>
            <a:ext cx="6096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9595A-C767-3843-0BBA-1202F6CE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158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Navier-Stokes</a:t>
            </a: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方程、</a:t>
            </a: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Euler </a:t>
            </a: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方程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E4CBFCF-714A-419F-89D6-45E3FCEA8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072" y="1984375"/>
            <a:ext cx="9144000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C7A6D-61B3-33D3-D29D-69E7F9F7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325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边界条件 </a:t>
            </a: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Boundary Conditions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F7F857BB-B4E7-4D42-8294-0F4FA60FB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89" y="1134670"/>
            <a:ext cx="11920382" cy="511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sz="2800" b="1" dirty="0"/>
              <a:t>In fluid mechanics, we generally assume:</a:t>
            </a:r>
            <a:endParaRPr lang="en-US" altLang="zh-CN" sz="2400" b="1" dirty="0"/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/>
              <a:t>No velocity normal to a boundary, which means there is no flow through the boundary     </a:t>
            </a:r>
            <a:r>
              <a:rPr lang="zh-CN" altLang="en-US" sz="2400" dirty="0"/>
              <a:t>“无穿透” 条件：流体在边界处的法向速度为零，意味着流体不能穿透边界</a:t>
            </a:r>
            <a:endParaRPr lang="en-US" altLang="zh-CN" sz="2400" dirty="0"/>
          </a:p>
          <a:p>
            <a:pPr marL="342900" indent="-34290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/>
              <a:t>No flow parallel to a solid boundary, which means no slip at the solid boundary</a:t>
            </a:r>
            <a:br>
              <a:rPr lang="en-US" altLang="zh-CN" sz="2400" dirty="0"/>
            </a:br>
            <a:r>
              <a:rPr lang="zh-CN" altLang="en-US" sz="2400" dirty="0"/>
              <a:t>“无滑移” 条件：流体在固体边界处的切向速度为零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None/>
            </a:pPr>
            <a:endParaRPr lang="en-US" altLang="zh-CN" sz="2400" dirty="0"/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无穿透条件：确保流体不会穿过固体边界，保证质量守恒，符合实际物理现象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无滑移条件：流体分子与固体表面相互作用，最靠近壁面的流体层粘附在壁面上，是粘性流体的重要特征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应用场景：管道流动分析、翼型绕流计算、边界层理论、计算流体动力学</a:t>
            </a:r>
            <a:r>
              <a:rPr lang="en-US" altLang="zh-CN" sz="2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(CFD)</a:t>
            </a:r>
            <a:r>
              <a:rPr lang="zh-CN" altLang="en-US" sz="2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模拟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这些假设是流体力学建模的基础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在大多数工程应用中都能得到很好的验证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zh-CN" sz="2800" dirty="0">
              <a:solidFill>
                <a:srgbClr val="FFFFFF"/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FD107F-7199-41C1-2B73-9FE1626E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20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1BA7B5-0135-4591-B60F-BCDABEFDA1EE}"/>
              </a:ext>
            </a:extLst>
          </p:cNvPr>
          <p:cNvSpPr/>
          <p:nvPr/>
        </p:nvSpPr>
        <p:spPr>
          <a:xfrm>
            <a:off x="-8890" y="-6475"/>
            <a:ext cx="12198985" cy="7843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1298A-AD08-483E-A4B8-EBEB463F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29" y="53974"/>
            <a:ext cx="11981942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CC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静压假定 </a:t>
            </a:r>
            <a:r>
              <a:rPr lang="en-US" altLang="zh-CN" sz="3600" b="1" dirty="0">
                <a:solidFill>
                  <a:schemeClr val="bg1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Hydrostatic Approximation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80DB794C-E387-47D7-9636-C5ED76BCE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216" y="882012"/>
            <a:ext cx="9144000" cy="113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静压近似是指对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水平尺度远大于铅直尺度的大尺度运动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垂向动量守恒方程可以简化为静压关系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D8148637-2AA0-4EB7-818D-CF09D7135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084" y="2840038"/>
            <a:ext cx="184731" cy="524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EF165F4-D730-4274-8D15-A61FD25CC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216" y="2405724"/>
            <a:ext cx="11830844" cy="3294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海洋中大多数的运动基本满足静压假定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但研究小尺度、垂向运动相对较大时，静压假定将不满足，此时应使用非静压假定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一个非静压假定的例子</a:t>
            </a:r>
            <a:r>
              <a:rPr lang="en-US" altLang="zh-CN" sz="2400" b="1" dirty="0"/>
              <a:t>: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两种不同盐度的水体混合运动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highlight>
                  <a:srgbClr val="FFFF00"/>
                </a:highlight>
              </a:rPr>
              <a:t>SELFE model 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FVCOM model</a:t>
            </a:r>
          </a:p>
        </p:txBody>
      </p:sp>
      <p:pic>
        <p:nvPicPr>
          <p:cNvPr id="7" name="图片 2">
            <a:extLst>
              <a:ext uri="{FF2B5EF4-FFF2-40B4-BE49-F238E27FC236}">
                <a16:creationId xmlns:a16="http://schemas.microsoft.com/office/drawing/2014/main" id="{2A6DCAAC-E577-465C-A8EF-DD560F1D3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954" y="3815458"/>
            <a:ext cx="6047452" cy="298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49261FE2-97DF-4CFC-8A37-8480F6E3A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463" y="3768847"/>
            <a:ext cx="1778051" cy="100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5000"/>
              <a:buFont typeface="Monotype Sorts" pitchFamily="2" charset="2"/>
              <a:buChar char="ä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 pitchFamily="2" charset="2"/>
              <a:buChar char="ä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/>
              <a:t>SELFE</a:t>
            </a:r>
            <a:r>
              <a:rPr lang="zh-CN" altLang="en-US" sz="2400" b="1" dirty="0"/>
              <a:t>模型</a:t>
            </a:r>
            <a:endParaRPr lang="en-US" altLang="zh-CN" sz="2400" b="1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/>
              <a:t>咸淡水混合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0507D0-32BE-ACF1-C2FB-F578734D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484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495E0C2-0D57-4F0E-A93F-4F6D95DA7F3F}"/>
              </a:ext>
            </a:extLst>
          </p:cNvPr>
          <p:cNvSpPr/>
          <p:nvPr/>
        </p:nvSpPr>
        <p:spPr>
          <a:xfrm>
            <a:off x="1455991" y="344361"/>
            <a:ext cx="8424863" cy="176202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长江口的动量平衡分析</a:t>
            </a:r>
            <a:endParaRPr lang="en-US" altLang="zh-CN" sz="2800" b="1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Aft>
                <a:spcPts val="0"/>
              </a:spcAft>
              <a:defRPr/>
            </a:pPr>
            <a:r>
              <a:rPr lang="zh-CN" altLang="zh-CN" sz="2800" b="1" kern="100" dirty="0">
                <a:latin typeface="黑体" panose="02010609060101010101" pitchFamily="49" charset="-122"/>
                <a:ea typeface="黑体" panose="02010609060101010101" pitchFamily="49" charset="-122"/>
              </a:rPr>
              <a:t>即分别计算动量方程中的各分项，并比较其大小</a:t>
            </a:r>
            <a:endParaRPr lang="en-US" altLang="zh-CN" sz="2800" b="1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Aft>
                <a:spcPts val="0"/>
              </a:spcAft>
              <a:defRPr/>
            </a:pPr>
            <a:endParaRPr lang="zh-CN" altLang="zh-CN" sz="3200" b="1" kern="1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5536BF7-50E3-4AE8-951C-432814840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579030"/>
              </p:ext>
            </p:extLst>
          </p:nvPr>
        </p:nvGraphicFramePr>
        <p:xfrm>
          <a:off x="1569931" y="1760488"/>
          <a:ext cx="8933688" cy="41592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0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8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91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2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长江口潮差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潮波长度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纬度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水流平均流速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风速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2.7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400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31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0.6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km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北纬，度</a:t>
                      </a:r>
                      <a:endParaRPr lang="zh-CN" sz="2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m/s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m/s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rowSpan="3"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sz="20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zh-CN" sz="20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东向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东风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gridSpan="3" vMerge="1">
                  <a:txBody>
                    <a:bodyPr/>
                    <a:lstStyle/>
                    <a:p>
                      <a:endParaRPr lang="zh-CN" sz="20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南北向流速为</a:t>
                      </a: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无其他风向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gridSpan="3" vMerge="1">
                  <a:txBody>
                    <a:bodyPr/>
                    <a:lstStyle/>
                    <a:p>
                      <a:endParaRPr lang="zh-CN" sz="20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 sz="200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zh-CN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CN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sz="20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空气密度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海水密度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l-GR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Ω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平均水深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400" b="1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近底部流速</a:t>
                      </a:r>
                      <a:endParaRPr lang="zh-CN" sz="24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6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1.237</a:t>
                      </a:r>
                      <a:endParaRPr lang="zh-CN" sz="24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1025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7.29E</a:t>
                      </a: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-05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0.3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kg/m</a:t>
                      </a:r>
                      <a:r>
                        <a:rPr lang="en-US" sz="2400" b="0" kern="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400" b="0" kern="100" baseline="30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kg/m</a:t>
                      </a:r>
                      <a:r>
                        <a:rPr lang="en-US" sz="2400" kern="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400" kern="100" baseline="30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弧度</a:t>
                      </a: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/s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m/s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B95F97-B270-68ED-CD39-1D5C88E6C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087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922783D-6FDD-90D6-0714-30030252A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" t="688" b="2241"/>
          <a:stretch/>
        </p:blipFill>
        <p:spPr>
          <a:xfrm>
            <a:off x="1288260" y="1977097"/>
            <a:ext cx="9084624" cy="28075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F3E831C-06AA-F1B3-2196-D457D8A5BEA9}"/>
              </a:ext>
            </a:extLst>
          </p:cNvPr>
          <p:cNvSpPr txBox="1"/>
          <p:nvPr/>
        </p:nvSpPr>
        <p:spPr>
          <a:xfrm>
            <a:off x="1288260" y="744133"/>
            <a:ext cx="5910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Precise = </a:t>
            </a:r>
            <a:r>
              <a:rPr lang="zh-CN" altLang="en-US" sz="28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精确，   </a:t>
            </a:r>
            <a:r>
              <a:rPr lang="en-US" altLang="zh-CN" sz="28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Accurate = </a:t>
            </a:r>
            <a:r>
              <a:rPr lang="zh-CN" altLang="en-US" sz="2800" b="1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准确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7A2748-8959-881D-31C8-276A3CC6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1C51D-F375-438D-8888-48A6AD09AD0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95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F7D3AC-2CE6-A6A1-BA53-B0182C66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9F80D-4EB8-42A9-9459-D68AC3A7EA86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6FB1734-AA7E-29CF-F8A5-C1DA9493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999" y="237325"/>
            <a:ext cx="9460265" cy="653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2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937</Words>
  <Application>Microsoft Office PowerPoint</Application>
  <PresentationFormat>宽屏</PresentationFormat>
  <Paragraphs>157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Monotype Sorts</vt:lpstr>
      <vt:lpstr>等线</vt:lpstr>
      <vt:lpstr>等线 Light</vt:lpstr>
      <vt:lpstr>黑体</vt:lpstr>
      <vt:lpstr>楷体</vt:lpstr>
      <vt:lpstr>Arial</vt:lpstr>
      <vt:lpstr>Arial Black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万 洁颖</dc:creator>
  <cp:lastModifiedBy>Yunwei Wang</cp:lastModifiedBy>
  <cp:revision>44</cp:revision>
  <dcterms:created xsi:type="dcterms:W3CDTF">2023-03-09T06:58:29Z</dcterms:created>
  <dcterms:modified xsi:type="dcterms:W3CDTF">2026-03-23T13:20:21Z</dcterms:modified>
</cp:coreProperties>
</file>